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6"/>
  </p:sldMasterIdLst>
  <p:sldIdLst>
    <p:sldId id="257" r:id="rId1"/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</p:sldIdLst>
  <p:sldSz cx="9144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Master" Target="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0" y="0"/>
            <a:ext cx="9144000" cy="23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20000" y="520000"/>
            <a:ext cx="8300000" cy="7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200" b="1"/>
              <a:t>Chalumeau Family Capstone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20000" y="1450000"/>
            <a:ext cx="8000000" cy="4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/>
              <a:t>- Musical instrument documentation capstone</a:t>
            </a:r>
          </a:p>
          <a:p>
            <a:r>
              <a:rPr lang="en-US" sz="1900"/>
              <a:t>- Build packet: chalumeau</a:t>
            </a:r>
          </a:p>
          <a:p>
            <a:r>
              <a:rPr lang="en-US" sz="1900"/>
              <a:t>- Generated: 2026-05-03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400000" y="6400000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100"/>
              <a:t>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0" y="0"/>
            <a:ext cx="9144000" cy="23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20000" y="520000"/>
            <a:ext cx="8300000" cy="7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200" b="1"/>
              <a:t>Project Intent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20000" y="1450000"/>
            <a:ext cx="8000000" cy="4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/>
              <a:t>- Design a family of chalumeaux that can be built in Tony's shop using</a:t>
            </a:r>
          </a:p>
          <a:p>
            <a:r>
              <a:rPr lang="en-US" sz="1900"/>
              <a:t>- lathe/CNC workflows, commercial reeds for early isolation tests, and</a:t>
            </a:r>
          </a:p>
          <a:p>
            <a:r>
              <a:rPr lang="en-US" sz="1900"/>
              <a:t>- optional handmade metal keywork. The family should cover a useful range</a:t>
            </a:r>
          </a:p>
          <a:p>
            <a:r>
              <a:rPr lang="en-US" sz="1900"/>
              <a:t>- without pretending the first-pass physics is final: all tone-hole</a:t>
            </a:r>
          </a:p>
          <a:p>
            <a:r>
              <a:rPr lang="en-US" sz="1900"/>
              <a:t>- coordinates are starting points that must be validated with a real reed,</a:t>
            </a:r>
          </a:p>
          <a:p>
            <a:r>
              <a:rPr lang="en-US" sz="1900"/>
              <a:t>- mouthpiece, bore, and player pressure.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400000" y="6400000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100"/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0" y="0"/>
            <a:ext cx="9144000" cy="23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20000" y="520000"/>
            <a:ext cx="8300000" cy="7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200" b="1"/>
              <a:t>Physics Model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20000" y="1450000"/>
            <a:ext cx="8000000" cy="4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/>
              <a:t>- The chalumeau is modeled as a cylindrical single-reed pipe that behaves</a:t>
            </a:r>
          </a:p>
          <a:p>
            <a:r>
              <a:rPr lang="en-US" sz="1900"/>
              <a:t>- like a stopped pipe in its low register.</a:t>
            </a:r>
          </a:p>
          <a:p>
            <a:r>
              <a:rPr lang="en-US" sz="1900"/>
              <a:t>- f = c / (4 * L_eff)</a:t>
            </a:r>
          </a:p>
          <a:p>
            <a:r>
              <a:rPr lang="en-US" sz="1900"/>
              <a:t>- L_eff = c / (4 * f)</a:t>
            </a:r>
          </a:p>
          <a:p>
            <a:r>
              <a:rPr lang="en-US" sz="1900"/>
              <a:t>- c = 13552 in/s at about 68 F</a:t>
            </a:r>
          </a:p>
          <a:p>
            <a:r>
              <a:rPr lang="en-US" sz="1900"/>
              <a:t>- body_length = L_eff - bell_end_correction - reed_end_correction</a:t>
            </a:r>
          </a:p>
          <a:p>
            <a:r>
              <a:rPr lang="en-US" sz="1900"/>
              <a:t>- bell_end_correction = 0.61 * bore_radius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400000" y="6400000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100"/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0" y="0"/>
            <a:ext cx="9144000" cy="23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20000" y="520000"/>
            <a:ext cx="8300000" cy="7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200" b="1"/>
              <a:t>Hardware Alignment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20000" y="1450000"/>
            <a:ext cx="8000000" cy="4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/>
              <a:t>- The hardware is intentionally small-shop manufacturable: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400000" y="6400000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100"/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0" y="0"/>
            <a:ext cx="9144000" cy="23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20000" y="520000"/>
            <a:ext cx="8300000" cy="7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200" b="1"/>
              <a:t>How To Use This Packet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20000" y="1450000"/>
            <a:ext cx="8000000" cy="4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/>
              <a:t>- Start with ../packet/design.md for intent and assumptions.</a:t>
            </a:r>
          </a:p>
          <a:p>
            <a:r>
              <a:rPr lang="en-US" sz="1900"/>
              <a:t>- Use ../packet/bom.csv, ../packet/sourcing.csv, and ../packet/cut-list.csv before buying or cutting.</a:t>
            </a:r>
          </a:p>
          <a:p>
            <a:r>
              <a:rPr lang="en-US" sz="1900"/>
              <a:t>- Use ../packet/drawing-brief.md and CAD/CNC folders before machining.</a:t>
            </a:r>
          </a:p>
          <a:p>
            <a:r>
              <a:rPr lang="en-US" sz="1900"/>
              <a:t>- Print the packet for shopping, shop work, and validation.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400000" y="6400000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100"/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0" y="0"/>
            <a:ext cx="9144000" cy="23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20000" y="520000"/>
            <a:ext cx="8300000" cy="7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200" b="1"/>
              <a:t>File Map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20000" y="1450000"/>
            <a:ext cx="8000000" cy="4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/>
              <a:t>- ../packet/design.md: Project intent, catalog metadata, assumptions, and validation plan.</a:t>
            </a:r>
          </a:p>
          <a:p>
            <a:r>
              <a:rPr lang="en-US" sz="1900"/>
              <a:t>- ../packet/bom.csv: Starter bill of materials with part categories, quantities, drawing refs, and notes.</a:t>
            </a:r>
          </a:p>
          <a:p>
            <a:r>
              <a:rPr lang="en-US" sz="1900"/>
              <a:t>- ../packet/sourcing.csv: Supplier/search tracker with specs, price/date fields, lead time, substitutes, and risks.</a:t>
            </a:r>
          </a:p>
          <a:p>
            <a:r>
              <a:rPr lang="en-US" sz="1900"/>
              <a:t>- ../packet/cut-list.csv: Rough/final stock sizes, material, grain/orientation, operations, yield, and offcuts.</a:t>
            </a:r>
          </a:p>
          <a:p>
            <a:r>
              <a:rPr lang="en-US" sz="1900"/>
              <a:t>- ../packet/drawing-brief.md: Manufacturing drawing and technical product sketch brief.</a:t>
            </a:r>
          </a:p>
          <a:p>
            <a:r>
              <a:rPr lang="en-US" sz="1900"/>
              <a:t>- ../packet/assembly-manual.md: Shop-facing sequence, tools, fixtures, safety, tuning, finishing, and maintenance notes.</a:t>
            </a:r>
          </a:p>
          <a:p>
            <a:r>
              <a:rPr lang="en-US" sz="1900"/>
              <a:t>- ../packet/validation.csv: Target/measured values, tolerance, environment, result, and tuning/build action log.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400000" y="6400000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100"/>
              <a:t>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0" y="0"/>
            <a:ext cx="9144000" cy="23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20000" y="520000"/>
            <a:ext cx="8300000" cy="7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200" b="1"/>
              <a:t>Family Spec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20000" y="1450000"/>
            <a:ext cx="8000000" cy="4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/>
              <a:t/>
            </a:r>
          </a:p>
        </p:txBody>
      </p:sp>
      <p:sp>
        <p:nvSpPr>
          <p:cNvPr id="5" name="Text 5"/>
          <p:cNvSpPr txBox="1"/>
          <p:nvPr/>
        </p:nvSpPr>
        <p:spPr>
          <a:xfrm>
            <a:off x="7400000" y="6400000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100"/>
              <a:t>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0" y="0"/>
            <a:ext cx="9144000" cy="23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20000" y="520000"/>
            <a:ext cx="8300000" cy="7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200" b="1"/>
              <a:t>Build Workflow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20000" y="1450000"/>
            <a:ext cx="8000000" cy="4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/>
              <a:t>- Design and assumptions</a:t>
            </a:r>
          </a:p>
          <a:p>
            <a:r>
              <a:rPr lang="en-US" sz="1900"/>
              <a:t>- Source materials and hardware</a:t>
            </a:r>
          </a:p>
          <a:p>
            <a:r>
              <a:rPr lang="en-US" sz="1900"/>
              <a:t>- Prepare stock, fixtures, and CNC/laser/lathe setup</a:t>
            </a:r>
          </a:p>
          <a:p>
            <a:r>
              <a:rPr lang="en-US" sz="1900"/>
              <a:t>- Assemble, tune, finish, and validate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400000" y="6400000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100"/>
              <a:t>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0" y="0"/>
            <a:ext cx="9144000" cy="23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20000" y="520000"/>
            <a:ext cx="8300000" cy="7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200" b="1"/>
              <a:t>Sourcing And BOM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20000" y="1450000"/>
            <a:ext cx="8000000" cy="4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/>
              <a:t>- BOM gives part categories and drawing references.</a:t>
            </a:r>
          </a:p>
          <a:p>
            <a:r>
              <a:rPr lang="en-US" sz="1900"/>
              <a:t>- Sourcing tracks search terms, supplier candidates, price/date, lead time, substitutions.</a:t>
            </a:r>
          </a:p>
          <a:p>
            <a:r>
              <a:rPr lang="en-US" sz="1900"/>
              <a:t>- Visual BOM brief turns the parts list into a presentation-ready image board.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400000" y="6400000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100"/>
              <a:t>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0" y="0"/>
            <a:ext cx="9144000" cy="23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20000" y="520000"/>
            <a:ext cx="8300000" cy="7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200" b="1"/>
              <a:t>Shop Packet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20000" y="1450000"/>
            <a:ext cx="8000000" cy="4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/>
              <a:t>- Cut list for lumber/sheet/blank planning.</a:t>
            </a:r>
          </a:p>
          <a:p>
            <a:r>
              <a:rPr lang="en-US" sz="1900"/>
              <a:t>- Assembly manual for away-from-keyboard work.</a:t>
            </a:r>
          </a:p>
          <a:p>
            <a:r>
              <a:rPr lang="en-US" sz="1900"/>
              <a:t>- Validation sheet for measured dimensions, tuning, pass/fail checks.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400000" y="6400000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100"/>
              <a:t>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0" y="0"/>
            <a:ext cx="9144000" cy="23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20000" y="520000"/>
            <a:ext cx="8300000" cy="7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200" b="1"/>
              <a:t>Drawings, CAD, CNC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20000" y="1450000"/>
            <a:ext cx="8000000" cy="4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/>
              <a:t>- ../packet/drawing-brief.md defines required views, dimensions, datums, sketch intent.</a:t>
            </a:r>
          </a:p>
          <a:p>
            <a:r>
              <a:rPr lang="en-US" sz="1900"/>
              <a:t>- ../cad/ holds models and design tables.</a:t>
            </a:r>
          </a:p>
          <a:p>
            <a:r>
              <a:rPr lang="en-US" sz="1900"/>
              <a:t>- ../cnc/ holds CAM, toolpaths, setup sheets, dry-run notes.</a:t>
            </a:r>
          </a:p>
          <a:p>
            <a:r>
              <a:rPr lang="en-US" sz="1900"/>
              <a:t>- ../drawings/ holds PDFs, SVGs, DXFs, drawing exports.</a:t>
            </a:r>
          </a:p>
          <a:p>
            <a:r>
              <a:rPr lang="en-US" sz="1900"/>
              <a:t>- ![drawing](../drawings/chalumeau-family-sheet.svg)</a:t>
            </a:r>
          </a:p>
          <a:p>
            <a:r>
              <a:rPr lang="en-US" sz="1900"/>
              <a:t>- ![drawing](../drawings/chalumeau-soprano-c4-dimensioned.svg)</a:t>
            </a:r>
          </a:p>
          <a:p>
            <a:r>
              <a:rPr lang="en-US" sz="1900"/>
              <a:t>- ![drawing](../drawings/keywork-lever-detail.svg)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400000" y="6400000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100"/>
              <a:t>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0" y="0"/>
            <a:ext cx="9144000" cy="23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20000" y="520000"/>
            <a:ext cx="8300000" cy="7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200" b="1"/>
              <a:t>Images And Screenshots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20000" y="1450000"/>
            <a:ext cx="8000000" cy="4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/>
              <a:t>- ../../assets/images/chalumeau1.jpg</a:t>
            </a:r>
          </a:p>
          <a:p>
            <a:r>
              <a:rPr lang="en-US" sz="1900"/>
              <a:t>- ../../assets/images/chalumeau5.jpg</a:t>
            </a:r>
          </a:p>
          <a:p>
            <a:r>
              <a:rPr lang="en-US" sz="1900"/>
              <a:t>- ![image](../../assets/images/chalumeau1.jpg)</a:t>
            </a:r>
          </a:p>
          <a:p>
            <a:r>
              <a:rPr lang="en-US" sz="1900"/>
              <a:t>- ![image](../../assets/images/chalumeau5.jpg)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400000" y="6400000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100"/>
              <a:t>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0" y="0"/>
            <a:ext cx="9144000" cy="23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20000" y="520000"/>
            <a:ext cx="8300000" cy="7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200" b="1"/>
              <a:t>Validation Plan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20000" y="1450000"/>
            <a:ext cx="8000000" cy="4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/>
              <a:t>- A4 = 440 Hz reference check.</a:t>
            </a:r>
          </a:p>
          <a:p>
            <a:r>
              <a:rPr lang="en-US" sz="1900"/>
              <a:t>- Tuning targets logged in validation.csv.</a:t>
            </a:r>
          </a:p>
          <a:p>
            <a:r>
              <a:rPr lang="en-US" sz="1900"/>
              <a:t>- Critical dimensions verified against design sheet and CAD.</a:t>
            </a:r>
          </a:p>
          <a:p>
            <a:r>
              <a:rPr lang="en-US" sz="1900"/>
              <a:t>- Photos and revision notes after each major step.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400000" y="6400000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100"/>
              <a:t>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0" y="0"/>
            <a:ext cx="9144000" cy="23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20000" y="520000"/>
            <a:ext cx="8300000" cy="7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200" b="1"/>
              <a:t>Open Risks / Decisions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20000" y="1450000"/>
            <a:ext cx="8000000" cy="4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/>
              <a:t>- TBDs in design sheet and BOM.</a:t>
            </a:r>
          </a:p>
          <a:p>
            <a:r>
              <a:rPr lang="en-US" sz="1900"/>
              <a:t>- Supplier price/availability not yet verified.</a:t>
            </a:r>
          </a:p>
          <a:p>
            <a:r>
              <a:rPr lang="en-US" sz="1900"/>
              <a:t>- Generated images marked as concept placeholders.</a:t>
            </a:r>
          </a:p>
          <a:p>
            <a:r>
              <a:rPr lang="en-US" sz="1900"/>
              <a:t>- Empirical corrections await measured prototype data.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400000" y="6400000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100"/>
              <a:t>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0" y="0"/>
            <a:ext cx="9144000" cy="23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420000" y="520000"/>
            <a:ext cx="8300000" cy="7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200" b="1"/>
              <a:t>Next Actions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20000" y="1450000"/>
            <a:ext cx="8000000" cy="4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900"/>
              <a:t>- Replace TBDs with measured/source-backed values.</a:t>
            </a:r>
          </a:p>
          <a:p>
            <a:r>
              <a:rPr lang="en-US" sz="1900"/>
              <a:t>- Verify live supplier price and availability before buying.</a:t>
            </a:r>
          </a:p>
          <a:p>
            <a:r>
              <a:rPr lang="en-US" sz="1900"/>
              <a:t>- Export final drawings and visual BOM images.</a:t>
            </a:r>
          </a:p>
          <a:p>
            <a:r>
              <a:rPr lang="en-US" sz="1900"/>
              <a:t>- Regenerate this deck and print packet after final edits.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400000" y="6400000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100"/>
              <a:t>Slide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lumeau">
  <a:themeElements>
    <a:clrScheme name="Chalumeau">
      <a:dk1>
        <a:srgbClr val="111827"/>
      </a:dk1>
      <a:lt1>
        <a:srgbClr val="FFFFFF"/>
      </a:lt1>
      <a:dk2>
        <a:srgbClr val="1F2937"/>
      </a:dk2>
      <a:lt2>
        <a:srgbClr val="F8FAFC"/>
      </a:lt2>
      <a:accent1>
        <a:srgbClr val="1F4E79"/>
      </a:accent1>
      <a:accent2>
        <a:srgbClr val="92400E"/>
      </a:accent2>
      <a:accent3>
        <a:srgbClr val="C9A227"/>
      </a:accent3>
      <a:accent4>
        <a:srgbClr val="475569"/>
      </a:accent4>
      <a:accent5>
        <a:srgbClr val="0F766E"/>
      </a:accent5>
      <a:accent6>
        <a:srgbClr val="991B1B"/>
      </a:accent6>
      <a:hlink>
        <a:srgbClr val="0563C1"/>
      </a:hlink>
      <a:folHlink>
        <a:srgbClr val="954F72"/>
      </a:folHlink>
    </a:clrScheme>
    <a:fontScheme name="Office">
      <a:majorFont>
        <a:latin typeface="Arial"/>
      </a:majorFont>
      <a:minorFont>
        <a:latin typeface="Arial"/>
      </a:minorFont>
    </a:fontScheme>
    <a:fmtScheme name="Offic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On-screen Show (16:9)</PresentationFormat>
  <Slides>15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Chalumeau Family Capstone</dc:title>
  <dc:creator>Codex</dc:creator>
  <dcterms:created xsi:type="dcterms:W3CDTF">2026-05-17T19:39:14.668382+00:00</dcterms:created>
</cp:coreProperties>
</file>